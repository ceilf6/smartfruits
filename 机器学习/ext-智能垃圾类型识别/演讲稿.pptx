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[PESTEL — Politique (P)]</a:t>
            </a:r>
            <a:r>
              <a:rPr/>
              <a:t> Notre solution s’inscrit dans les priorités des collectivités : amélioration du tri, réduction des déchets résiduels, et projets “smart city”. Mais elle doit rester adaptable, car les règles de tri peuvent changer selon le territoire.</a:t>
            </a:r>
          </a:p>
          <a:p>
            <a:pPr lvl="0" indent="0" marL="0">
              <a:buNone/>
            </a:pPr>
            <a:r>
              <a:rPr b="1"/>
              <a:t>[PESTEL — Économique (E)]</a:t>
            </a:r>
            <a:r>
              <a:rPr/>
              <a:t> L’enjeu est le coût total : matériel, installation, maintenance et supervision. En contrepartie, une meilleure qualité de tri peut réduire la contamination des flux et améliorer la valorisation, donc générer un retour sur investissement.</a:t>
            </a:r>
          </a:p>
          <a:p>
            <a:pPr lvl="0" indent="0" marL="0">
              <a:buNone/>
            </a:pPr>
            <a:r>
              <a:rPr b="1"/>
              <a:t>[PESTEL — Social (S)]</a:t>
            </a:r>
            <a:r>
              <a:rPr/>
              <a:t> L’acceptation dépend de l’ergonomie : une réponse rapide et des consignes claires. Il faut aussi rassurer sur la caméra : expliquer l’usage, minimiser la collecte et protéger la confidentialité pour éviter l’effet “surveillance”.</a:t>
            </a:r>
          </a:p>
          <a:p>
            <a:pPr lvl="0" indent="0" marL="0">
              <a:buNone/>
            </a:pPr>
            <a:r>
              <a:rPr b="1"/>
              <a:t>[PESTEL — Technologique (T)]</a:t>
            </a:r>
            <a:r>
              <a:rPr/>
              <a:t> Techniquement, il faut un modèle robuste à l’éclairage, aux angles et aux déchets sales, avec un processus de mise à jour. Côté embarqué, on vise une latence faible et un modèle léger pour être déployable à grande échelle.</a:t>
            </a:r>
          </a:p>
          <a:p>
            <a:pPr lvl="0" indent="0" marL="0">
              <a:buNone/>
            </a:pPr>
            <a:r>
              <a:rPr b="1"/>
              <a:t>[PESTEL — Environnemental (E)]</a:t>
            </a:r>
            <a:r>
              <a:rPr/>
              <a:t> L’impact attendu est positif : plus de recyclage et moins de déchets résiduels. En même temps, on doit limiter l’empreinte du dispositif lui-même, en privilégiant des composants durables et réparables.</a:t>
            </a:r>
          </a:p>
          <a:p>
            <a:pPr lvl="0" indent="0" marL="0">
              <a:buNone/>
            </a:pPr>
            <a:r>
              <a:rPr b="1"/>
              <a:t>[PESTEL — Légal (L)]</a:t>
            </a:r>
            <a:r>
              <a:rPr/>
              <a:t> Enfin, il faut respecter le cadre légal : protection des données si des images sont traitées, normes de sécurité, et clarification de la responsabilité en cas d’erreur de tri.</a:t>
            </a:r>
          </a:p>
          <a:p>
            <a:pPr lvl="0" indent="0" marL="0">
              <a:buNone/>
            </a:pPr>
            <a:r>
              <a:rPr b="1"/>
              <a:t>[SWOT — Forces (S)]</a:t>
            </a:r>
            <a:r>
              <a:rPr/>
              <a:t> Nos forces : un tri plus fiable, un feedback pédagogique pour l’utilisateur, et une architecture modulaire qui permet d’améliorer le modèle sans changer tout le système.</a:t>
            </a:r>
          </a:p>
          <a:p>
            <a:pPr lvl="0" indent="0" marL="0">
              <a:buNone/>
            </a:pPr>
            <a:r>
              <a:rPr b="1"/>
              <a:t>[SWOT — Faiblesses (W)]</a:t>
            </a:r>
            <a:r>
              <a:rPr/>
              <a:t> Nos faiblesses : la sensibilité aux conditions réelles et la dépendance à la qualité des données. La maintenance des capteurs et la calibration peuvent aussi augmenter la complexité d’exploitation.</a:t>
            </a:r>
          </a:p>
          <a:p>
            <a:pPr lvl="0" indent="0" marL="0">
              <a:buNone/>
            </a:pPr>
            <a:r>
              <a:rPr b="1"/>
              <a:t>[SWOT — Opportunités (O)]</a:t>
            </a:r>
            <a:r>
              <a:rPr/>
              <a:t> Nos opportunités : subventions et partenariats avec écoles, campus, collectivités et centres commerciaux, ainsi que l’amélioration continue grâce à de nouvelles données et l’extension à d’autres catégories.</a:t>
            </a:r>
          </a:p>
          <a:p>
            <a:pPr lvl="0" indent="0" marL="0">
              <a:buNone/>
            </a:pPr>
            <a:r>
              <a:rPr b="1"/>
              <a:t>[SWOT — Menaces (T)]</a:t>
            </a:r>
            <a:r>
              <a:rPr/>
              <a:t> Nos menaces : concurrence, évolution des réglementations, et perte de confiance si les erreurs sont trop visibles. Pour y répondre, il faut mesurer la performance, améliorer progressivement et communiquer clairement.</a:t>
            </a:r>
          </a:p>
          <a:p>
            <a:pPr lvl="0" indent="0" marL="0">
              <a:buNone/>
            </a:pPr>
            <a:r>
              <a:rPr/>
              <a:t>Merci pour votre attention.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2025-12-25T09:22:50Z</dcterms:created>
  <dcterms:modified xsi:type="dcterms:W3CDTF">2025-12-25T09:22:50Z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